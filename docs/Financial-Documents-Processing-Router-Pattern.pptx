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1A73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Router (Haiku)</c:v>
                  </c:pt>
                  <c:pt idx="1">
                    <c:v>Extractor (Textract)</c:v>
                  </c:pt>
                  <c:pt idx="2">
                    <c:v>Normalizer (Haiku)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0.006</c:v>
                </c:pt>
                <c:pt idx="1">
                  <c:v>0.3</c:v>
                </c:pt>
                <c:pt idx="2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5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Cost ($)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 Distribution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B8A6"/>
              </a:solidFill>
              <a:effectLst/>
            </c:spPr>
          </c:dPt>
          <c:dPt>
            <c:idx val="1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bubble3D val="0"/>
            <c:spPr>
              <a:solidFill>
                <a:srgbClr val="1A73E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Textract (89%)</c:v>
                </c:pt>
                <c:pt idx="1">
                  <c:v>Normalizer (9%)</c:v>
                </c:pt>
                <c:pt idx="2">
                  <c:v>Router (2%)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0.3</c:v>
                </c:pt>
                <c:pt idx="1">
                  <c:v>0.03</c:v>
                </c:pt>
                <c:pt idx="2">
                  <c:v>0.006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06340"/>
            <a:ext cx="9144000" cy="13716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Documents Processing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Pattern Architecture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Cost-Optimized Intelligent Document Processing for Financial Services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 Cost Reduction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AWS Architecture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Classification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Traditional Document Processing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💸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$4.50+/doc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 force OCR on every page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multi-hundred page documents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⏱️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56032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Processing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65176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page-by-page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wastes time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🎯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75488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Precision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632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extraction misses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document nuances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4944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📋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94944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Audit Trail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4088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 to trace which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data came from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Processing 1,000 documents/month costs $4,500+ with limited accuracy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Solution: Router Pattern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155448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16459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 Haiku analyzes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pages, identifies key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page numbers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~$0.006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91840" y="2651760"/>
            <a:ext cx="365760" cy="365760"/>
          </a:xfrm>
          <a:prstGeom prst="rightArrow">
            <a:avLst/>
          </a:prstGeom>
          <a:solidFill>
            <a:srgbClr val="FF9900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371600"/>
            <a:ext cx="27432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1554480"/>
            <a:ext cx="731520" cy="7315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389120" y="16459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38328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EXTRACTOR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83280" y="2834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Pages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32004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Textract processes ONLY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pages with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 + Queries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~$0.30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2651760"/>
            <a:ext cx="365760" cy="365760"/>
          </a:xfrm>
          <a:prstGeom prst="rightArrow">
            <a:avLst/>
          </a:prstGeom>
          <a:solidFill>
            <a:srgbClr val="FF9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0" y="1371600"/>
            <a:ext cx="27432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0" y="1554480"/>
            <a:ext cx="731520" cy="7315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0" y="16459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30936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309360" y="2834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Refinement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0" y="32004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3.5 Haiku normalizes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cross-validates,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 schema JSON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0936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~$0.34/document (vs $4.55 brute force)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Overview</a:t>
            </a:r>
            <a:endParaRPr lang="en-US" sz="3200" dirty="0"/>
          </a:p>
        </p:txBody>
      </p:sp>
      <p:pic>
        <p:nvPicPr>
          <p:cNvPr id="4" name="Image 0" descr="/Users/vibhupb/financial-documents-processing/docs/aws-architecture-horizont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85953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Functions Workflow</a:t>
            </a:r>
            <a:endParaRPr lang="en-US" sz="3200" dirty="0"/>
          </a:p>
        </p:txBody>
      </p:sp>
      <p:pic>
        <p:nvPicPr>
          <p:cNvPr id="4" name="Image 0" descr="/Users/vibhupb/financial-documents-processing/docs/stepfunctions_graph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234440"/>
            <a:ext cx="8778240" cy="2560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393192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4023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Routing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3891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DocumentTypeChoice branches to Loan or Credit Agreement path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91840" y="393192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91840" y="4023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Extraction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383280" y="43891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parallel Textract workers process pages in ~35s end-to-end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17920" y="393192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17920" y="4023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Handling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309360" y="43891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error handling with graceful failure recovery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Comparison: 92.5% Savings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01168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2148840"/>
                <a:gridCol w="21488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Cost/Doc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 Docs/Month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10,000 Docs/Month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Brute Force OCR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$4.55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$4,550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$45,500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Router Pattern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$0.34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$3,400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Monthly Savings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$42,100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Per-Document Cost Breakdown (300-page Credit Agreement)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3840480"/>
          <a:ext cx="4114800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846320" y="3749040"/>
          <a:ext cx="384048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Router Pattern? vs Alternatives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8595360" cy="18288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1371600"/>
                <a:gridCol w="42062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Cost/Doc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 Docs/Mo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Limitation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4.5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(Tool Calling)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$15-25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 limits; cost prohibitive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Bedrock Data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Automation (BDA)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page selection; black-box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Textract OCR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(Brute Force)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intelligence; processes all pages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Router Pattern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Surgical precision; 92.5% savings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274320" y="3291840"/>
            <a:ext cx="8595360" cy="640080"/>
          </a:xfrm>
          <a:prstGeom prst="roundRect">
            <a:avLst>
              <a:gd name="adj" fmla="val 14286"/>
            </a:avLst>
          </a:prstGeom>
          <a:solidFill>
            <a:srgbClr val="1A73E8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3383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"Use a cheap model to figure out WHERE to look, then use specialized tools to extract WHAT you need."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1148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416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is CHEAP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 excels at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structure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65760" y="4800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$0.006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91840" y="41148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91840" y="416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is SPECIALIZED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29184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Textract beats LLM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for tables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291840" y="4800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$0.02/pg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17920" y="41148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416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needs SOME intelligence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1792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not $75/M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token intelligence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217920" y="4800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Differentiators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14173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Classification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identifies document types &amp; relevant pages before expensive OCR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0" y="14173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Extraction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1783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only pages that matter - not the entire document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4688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97280" y="2606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Deduplication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29718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hashing prevents reprocessing identical documents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4688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486400" y="2606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Audit Trail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29718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exactly which page each data point originated from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65760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97280" y="37947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Workflow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Human-in-the-loop: Approve, Reject, or Correct extracted data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365760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☁️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486400" y="37947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&amp; Scalable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infrastructure management, auto-scales to any volume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Document Types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4206240" cy="3474720"/>
          </a:xfrm>
          <a:prstGeom prst="roundRect">
            <a:avLst>
              <a:gd name="adj" fmla="val 2632"/>
            </a:avLst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173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Loan Packages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Bef>
                <a:spcPts val="800"/>
              </a:spcBef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Promissory Note - Interest rate, principal, borrower names, maturity date</a:t>
            </a:r>
            <a:endParaRPr lang="en-US" sz="1200" dirty="0"/>
          </a:p>
          <a:p>
            <a:pPr>
              <a:spcBef>
                <a:spcPts val="800"/>
              </a:spcBef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Disclosure - Loan amount, fees, cash to close</a:t>
            </a:r>
            <a:endParaRPr lang="en-US" sz="1200" dirty="0"/>
          </a:p>
          <a:p>
            <a:pPr>
              <a:spcBef>
                <a:spcPts val="800"/>
              </a:spcBef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1003 - Borrower info, property address, employment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1280160"/>
            <a:ext cx="4206240" cy="3474720"/>
          </a:xfrm>
          <a:prstGeom prst="roundRect">
            <a:avLst>
              <a:gd name="adj" fmla="val 2632"/>
            </a:avLst>
          </a:prstGeom>
          <a:solidFill>
            <a:srgbClr val="FAF5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4173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Credit Agreements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54880" y="192024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 Info - Type, dates, amendment number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Parties - Borrower, agent, arrangers, guarantors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Terms - Revolving credit, LC commitments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Grid - SOFR spreads, ABR spreads, tiers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Lender Commitments - Per-lender allocations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Covenants - Financial ratios, requirements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AWS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CloudFront + S3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Dashboard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0972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234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 + Lambda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37560" y="1554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0972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234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Functions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17920" y="1554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240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Bedrock (Claude Haiku)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Classification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37560" y="210312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17" name="Text 15"/>
          <p:cNvSpPr/>
          <p:nvPr/>
        </p:nvSpPr>
        <p:spPr>
          <a:xfrm>
            <a:off x="3337560" y="2240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3756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Extraction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2240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DynamoDB + S3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Storage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371600" y="3291840"/>
            <a:ext cx="640080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3429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371600" y="38404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github.com/vibhupb/financial-documents-processing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71600" y="42062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Deploy: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install &amp;&amp; cdk deploy --all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71600" y="46634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~$0.34/doc  |  92.5% savings  |  Production ready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Documents Processing - Router Pattern Architecture</dc:title>
  <dc:subject>Cost-Optimized Intelligent Document Processing</dc:subject>
  <dc:creator>AWS Solutions</dc:creator>
  <cp:lastModifiedBy>AWS Solutions</cp:lastModifiedBy>
  <cp:revision>1</cp:revision>
  <dcterms:created xsi:type="dcterms:W3CDTF">2025-12-28T21:05:28Z</dcterms:created>
  <dcterms:modified xsi:type="dcterms:W3CDTF">2025-12-28T21:05:28Z</dcterms:modified>
</cp:coreProperties>
</file>